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64748B"/>
                </a:solidFill>
                <a:latin typeface="Arial"/>
              </a:rPr>
              <a:t>Tỷ lệ nghỉ việc theo ngành (%/năm)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Tỷ lệ nghỉ việc (%)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11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IT/PM</c:v>
                  </c:pt>
                  <c:pt idx="1">
                    <c:v>Finance</c:v>
                  </c:pt>
                  <c:pt idx="2">
                    <c:v>Healthcare</c:v>
                  </c:pt>
                  <c:pt idx="3">
                    <c:v>Education</c:v>
                  </c:pt>
                  <c:pt idx="4">
                    <c:v>Retail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13.2</c:v>
                </c:pt>
                <c:pt idx="1">
                  <c:v>8.4</c:v>
                </c:pt>
                <c:pt idx="2">
                  <c:v>7.9</c:v>
                </c:pt>
                <c:pt idx="3">
                  <c:v>5.6</c:v>
                </c:pt>
                <c:pt idx="4">
                  <c:v>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11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4748B"/>
                </a:solidFill>
                <a:latin typeface="Arial"/>
              </a:rPr>
              <a:t>Lý do ứng viên chọn công ty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Lý do chọn công 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0EA5E9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D1117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Văn hóa &amp; giá trị</c:v>
                </c:pt>
                <c:pt idx="1">
                  <c:v>Cơ hội học tập</c:v>
                </c:pt>
                <c:pt idx="2">
                  <c:v>Lương &amp; phúc lợi</c:v>
                </c:pt>
                <c:pt idx="3">
                  <c:v>Tech stack</c:v>
                </c:pt>
                <c:pt idx="4">
                  <c:v>Thương hiệu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34</c:v>
                </c:pt>
                <c:pt idx="1">
                  <c:v>27</c:v>
                </c:pt>
                <c:pt idx="2">
                  <c:v>21</c:v>
                </c:pt>
                <c:pt idx="3">
                  <c:v>11</c:v>
                </c:pt>
                <c:pt idx="4">
                  <c:v>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1F5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548640"/>
            <a:ext cx="5029200" cy="5029200"/>
          </a:xfrm>
          <a:prstGeom prst="ellipse">
            <a:avLst/>
          </a:prstGeom>
          <a:solidFill>
            <a:srgbClr val="0F2C59">
              <a:alpha val="70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84048"/>
            <a:ext cx="3200400" cy="310896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0EA5E9"/>
                </a:solidFill>
              </a:rPr>
              <a:t>BÀI THUYẾT TRÌNH HỌC THUẬT  ·  CNTT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HÓA DOANH NGHIỆP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NHÂN SỰ CHẤT LƯỢNG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432304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DỰ ÁN PHẦN MỀM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8BAEC8"/>
                </a:solidFill>
              </a:rPr>
              <a:t>Phân tích vai trò của văn hóa doanh nghiệp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8BAEC8"/>
                </a:solidFill>
              </a:rPr>
              <a:t>trong việc thu hút và giữ chân nhân sự chất lượng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7432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4088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090672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438144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9224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088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8952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3785616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928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1792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4088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1520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6384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38160" y="4133088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B6080"/>
                </a:solidFill>
              </a:rPr>
              <a:t>Nguồn: Deloitte · McKinsey · Gallup · HBR · Google re:Work · Netflix Culture Deck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NỘI DUNG TRÌNH BÀY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0292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47218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Giới thiệu vấn đề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78992" y="181051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Thách thức nhân sự ngành phần mềm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7685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76856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76856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Khái niệm &amp; Nền tảng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78992" y="26700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Văn hóa DN – định nghĩa &amp; các thành phần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3639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36392"/>
            <a:ext cx="5029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363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19125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Thu hút nhân tài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78992" y="35295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Employer branding &amp; môi trường sáng tạo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9592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95928"/>
            <a:ext cx="50292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95928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40507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Giữ chân nhân sự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78992" y="438912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Gắn bó, hài lòng, giảm nghỉ việc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141732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1417320"/>
            <a:ext cx="5029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417320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13832" y="147218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Hiệu quả dự án PM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13832" y="181051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Agile, hợp tác, năng suất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92040" y="227685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2276856"/>
            <a:ext cx="50292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276856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13832" y="2331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Case Studies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13832" y="267004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Google · Microsoft · Spotify · Netflix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313639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92040" y="3136392"/>
            <a:ext cx="502920" cy="749808"/>
          </a:xfrm>
          <a:prstGeom prst="rect">
            <a:avLst/>
          </a:prstGeom>
          <a:solidFill>
            <a:srgbClr val="0F2C59"/>
          </a:solidFill>
          <a:ln w="12700">
            <a:solidFill>
              <a:srgbClr val="0F2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136392"/>
            <a:ext cx="502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13832" y="319125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Đề xuất &amp; Kết luận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13832" y="35295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Chiến lược thực hành + tài liệu tham khảo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PHẦN 01  ·  GIỚI THIỆU VẤN ĐỀ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117"/>
                </a:solidFill>
              </a:rPr>
              <a:t>Tại sao nhân sự là "trò chơi cuối" trong phần mềm?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89888"/>
            <a:ext cx="192024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3619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48132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</a:rPr>
              <a:t>4M+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93776" y="1993392"/>
            <a:ext cx="17007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Thiếu hụt kỹ sư PM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toàn cầu (2024)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87168" y="138988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87168" y="1389888"/>
            <a:ext cx="192024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53619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54096" y="148132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</a:rPr>
              <a:t>13%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2615184" y="1993392"/>
            <a:ext cx="17007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Tỷ lệ nghỉ việc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IT hàng năm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08576" y="138988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08576" y="1389888"/>
            <a:ext cx="19202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53619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5504" y="148132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200%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4736592" y="1993392"/>
            <a:ext cx="17007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Chi phí thay thế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1 kỹ sư senior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729984" y="1389888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29984" y="1389888"/>
            <a:ext cx="192024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1536192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96912" y="148132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87%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6858000" y="1993392"/>
            <a:ext cx="1700784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Dev nghỉ việc vì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văn hóa độc hại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65760" y="3035808"/>
            <a:ext cx="26974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65760" y="3035808"/>
            <a:ext cx="64008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8640" y="3090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Cạnh tranh khốc liệt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3438144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0B4CC"/>
                </a:solidFill>
              </a:rPr>
              <a:t>Big Tech (Google, Amazon, Meta) săn người, đãi ngộ cao, phúc lợi hấp dẫn, khó cạnh tranh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18688" y="3035808"/>
            <a:ext cx="26974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18688" y="3035808"/>
            <a:ext cx="64008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401568" y="3090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Kỳ vọng cao &amp; đa dạng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401568" y="3438144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0B4CC"/>
                </a:solidFill>
              </a:rPr>
              <a:t>Dev muốn: tech mới, tự chủ, ý nghĩa công việc, remote – không chỉ lương cao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071616" y="3035808"/>
            <a:ext cx="26974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071616" y="3035808"/>
            <a:ext cx="64008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254496" y="309067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Chi phí tuyển dụng lớn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254496" y="3438144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0B4CC"/>
                </a:solidFill>
              </a:rPr>
              <a:t>Trung bình mất 3–6 tháng tuyển 1 senior + chi phí onboard &amp; loss of productivity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Nguồn: LinkedIn Talent Report 2023 · McKinsey Global Institute · Stack Overflow Developer Survey 2024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PHẦN 02  ·  KHÁI NIỆM VĂN HÓA DOANH NGHIỆP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117"/>
                </a:solidFill>
              </a:rPr>
              <a:t>Văn hóa doanh nghiệp là gì?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206240" cy="1325880"/>
          </a:xfrm>
          <a:prstGeom prst="rect">
            <a:avLst/>
          </a:prstGeom>
          <a:solidFill>
            <a:srgbClr val="0F2C59"/>
          </a:solidFill>
          <a:ln w="12700">
            <a:solidFill>
              <a:srgbClr val="0F2C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73152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716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"Hệ thống giá trị, niềm tin, hành vi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và thói quen được chia sẻ bởi các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thành viên trong tổ chức."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3408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</a:rPr>
              <a:t>— Edgar Schein, MIT Sloan (1985)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92040" y="1298448"/>
            <a:ext cx="3840480" cy="7680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350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ARTEFACTS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627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CFF"/>
                </a:solidFill>
              </a:rPr>
              <a:t>Kiến trúc, logo, dress code, ngôn ngữ giao tiếp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92040" y="2176272"/>
            <a:ext cx="3840480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2128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ESPOUSED VALUES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5054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CFF"/>
                </a:solidFill>
              </a:rPr>
              <a:t>Giá trị tuyên bố, sứ mệnh, tầm nhìn, chiến lược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92040" y="3054096"/>
            <a:ext cx="3840480" cy="768096"/>
          </a:xfrm>
          <a:prstGeom prst="rect">
            <a:avLst/>
          </a:prstGeom>
          <a:solidFill>
            <a:srgbClr val="0F2C59"/>
          </a:solidFill>
          <a:ln w="12700">
            <a:solidFill>
              <a:srgbClr val="0F2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BASIC ASSUMPTIONS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CFF"/>
                </a:solidFill>
              </a:rPr>
              <a:t>Niềm tin ẩn sâu, vô thức – nền tảng thật sự của văn hóa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3090672"/>
            <a:ext cx="621792" cy="6217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182112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01168" y="37856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Giao tiếp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minh bạch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261872" y="3090672"/>
            <a:ext cx="621792" cy="6217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3182112"/>
            <a:ext cx="310896" cy="31089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24128" y="37856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Khuyến khích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sáng tạo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2084832" y="309067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3182112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847088" y="37856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Học tập &amp;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phát triển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2907792" y="3090672"/>
            <a:ext cx="621792" cy="6217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3182112"/>
            <a:ext cx="310896" cy="31089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2670048" y="37856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Work-Life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Balance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3730752" y="309067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192" y="3182112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493008" y="378561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Tâm lý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D1117"/>
                </a:solidFill>
              </a:rPr>
              <a:t>an toàn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Nguồn: Edgar Schein (1985) – Organizational Culture and Leadership · Deloitte Human Capital Trends 2023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PHẦN 02  ·  ĐẶC THÙ NHÂN SỰ NGÀNH PHẦN MỀM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117"/>
                </a:solidFill>
              </a:rPr>
              <a:t>Ngành phần mềm – đặc thù khác biệt</a:t>
            </a:r>
            <a:endParaRPr lang="en-US" sz="2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98448"/>
          <a:ext cx="466344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303520" y="1298448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22392" y="1444752"/>
            <a:ext cx="530352" cy="53035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087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80760" y="1353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Nhu cầu nhân lực tăng mạnh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80760" y="1645920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Theo World Economic Forum: 97M việc làm mới trong tech đến 2025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303520" y="2286000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22392" y="2432304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96312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80760" y="234086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Dev có nhiều lựa chọn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080760" y="263347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Trung bình 1 senior dev nhận 3–5 offer/tháng trên LinkedIn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303520" y="3273552"/>
            <a:ext cx="3474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22392" y="3419856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483864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80760" y="332841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117"/>
                </a:solidFill>
              </a:rPr>
              <a:t>Không phải lương là thứ nhất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080760" y="3621024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Gallup 2023: 51% dev rời bỏ vì thiếu cơ hội phát triển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Nguồn: World Economic Forum Future of Jobs 2023 · Gallup State of Global Workplace 2023 · LinkedIn Talent Insights 2024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PHẦN 03  ·  VAI TRÒ TRONG THU HÚT NHÂN TÀI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117"/>
                </a:solidFill>
              </a:rPr>
              <a:t>Văn hóa DN – nam châm thu hút ứng viên chất lượng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17320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3624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Employer Branding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15568" y="16642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72% ứng viên nghiên cứu văn hóa công ty trước khi nộp CV (LinkedIn 2023)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2139696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258568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2257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22037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Môi trường sáng tạo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115568" y="25054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Dev muốn được thử nghiệm, hack, fail fast – không phải chỉ execute ticket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65760" y="2980944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3099816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16382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30449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Cơ hội phát triển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15568" y="334670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Gallup: #1 yếu tố thu hút là 'học được nhiều' – cao hơn lương 18%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65760" y="3822192"/>
            <a:ext cx="48463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02920" y="3941064"/>
            <a:ext cx="493776" cy="49377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05072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38862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Mission rõ ràng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15568" y="41879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Nhân sự IT muốn biết code của họ phục vụ ai, tác động ra sao</a:t>
            </a:r>
            <a:endParaRPr 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440680" y="1170432"/>
          <a:ext cx="3383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Nguồn: LinkedIn Talent Trends 2023 · Gallup 2023 · Glassdoor Employment Confidence Survey · Deloitte Millennial Survey 2022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92608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EA5E9"/>
                </a:solidFill>
              </a:rPr>
              <a:t>CASE STUDY 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EC8"/>
                </a:solidFill>
              </a:rPr>
              <a:t>"Don't be evil" → "Do the right thing"  ·  Project Aristotle · 20% Time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97480" cy="23042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269748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1051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179222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Project Aristotle (2012–2016)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1792" y="2286000"/>
            <a:ext cx="24231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0B4CC"/>
                </a:solidFill>
              </a:rPr>
              <a:t>Nghiên cứu 180 team: Psychological Safety là yếu tố #1 của team hiệu suất cao – cao hơn cả kỹ năng kỹ thuật.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10128" y="1691640"/>
            <a:ext cx="2697480" cy="23042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0128" y="169164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81051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68496" y="179222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20% Time Policy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74720" y="2286000"/>
            <a:ext cx="24231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0B4CC"/>
                </a:solidFill>
              </a:rPr>
              <a:t>Nhân viên dành 20% giờ làm dự án cá nhân. Kết quả: Gmail, Google Maps, Google News – đều là sản phẩm 20% Time.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63056" y="1691640"/>
            <a:ext cx="2697480" cy="2304288"/>
          </a:xfrm>
          <a:prstGeom prst="rect">
            <a:avLst/>
          </a:prstGeom>
          <a:solidFill>
            <a:srgbClr val="111827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63056" y="169164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81051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21424" y="179222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OKR &amp; Radical Transparency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327648" y="2286000"/>
            <a:ext cx="24231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0B4CC"/>
                </a:solidFill>
              </a:rPr>
              <a:t>OKR công khai toàn công ty – mọi nhân viên biết mục tiêu của CEO. Tạo cảm giác hữu ích và góp phần thực sự.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7200" y="4114800"/>
            <a:ext cx="8275320" cy="731520"/>
          </a:xfrm>
          <a:prstGeom prst="rect">
            <a:avLst/>
          </a:prstGeom>
          <a:solidFill>
            <a:srgbClr val="0F2C59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0080" y="411480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0EA5E9"/>
                </a:solidFill>
              </a:rPr>
              <a:t>Kết quả:  Google được xếp hạng #1 "Best Place to Work" nhiều năm liên (Glassdoor)  ·  Turnover rate dưới 6%  ·  20% time tạo ra &gt; $8B doanh thu hàng năm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PHẦN 04  ·  VAI TRÒ TRONG GIỮ CHÂN NHÂN SỰ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D1117"/>
                </a:solidFill>
              </a:rPr>
              <a:t>Văn hóa DN giữ chân bằng cách nào?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7548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64008" cy="9692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17904"/>
            <a:ext cx="512064" cy="512064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81912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Tăng sự gắn bó (Engagement)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43000" y="17007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Gallup 2023: Nhân viên "highly engaged" giảm nghỉ việc 43%. Team engaged tăng năng suất 23%.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2377440"/>
            <a:ext cx="47548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377440"/>
            <a:ext cx="64008" cy="9692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2596896"/>
            <a:ext cx="512064" cy="512064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609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43000" y="2468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Tăng sự hài lòng (Satisfaction)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143000" y="27797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Deloitte 2022: 82% nhân viên ở lại công ty vì "cảm thấy được trân trọng &amp; có giá trị" – không chỉ vì lương.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65760" y="3456432"/>
            <a:ext cx="475488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456432"/>
            <a:ext cx="64008" cy="9692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02920" y="3675888"/>
            <a:ext cx="512064" cy="512064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739896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43000" y="3547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</a:rPr>
              <a:t>Lộ trình phát triển rõ ràng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43000" y="385876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LinkedIn 2023: Công ty có culture phát triển giữ được nhân sự lâu hơn 34% so với đối thủ.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394960" y="1298448"/>
            <a:ext cx="3337560" cy="3438144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532120" y="14173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Chi phí nghỉ việc thực sự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532120" y="1847088"/>
            <a:ext cx="3063240" cy="566928"/>
          </a:xfrm>
          <a:prstGeom prst="rect">
            <a:avLst/>
          </a:prstGeom>
          <a:solidFill>
            <a:srgbClr val="0F1929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532120" y="1847088"/>
            <a:ext cx="73152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669280" y="19019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Tuyển dụng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909560" y="1901952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35%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669280" y="2194560"/>
            <a:ext cx="976122" cy="1097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645402" y="2194560"/>
            <a:ext cx="1812798" cy="109728"/>
          </a:xfrm>
          <a:prstGeom prst="rect">
            <a:avLst/>
          </a:prstGeom>
          <a:solidFill>
            <a:srgbClr val="1F2E42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532120" y="2560320"/>
            <a:ext cx="3063240" cy="566928"/>
          </a:xfrm>
          <a:prstGeom prst="rect">
            <a:avLst/>
          </a:prstGeom>
          <a:solidFill>
            <a:srgbClr val="0F1929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532120" y="2560320"/>
            <a:ext cx="73152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669280" y="26151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Onboarding &amp; đào tạo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7909560" y="26151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25%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5669280" y="2907792"/>
            <a:ext cx="69723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366510" y="2907792"/>
            <a:ext cx="2091690" cy="109728"/>
          </a:xfrm>
          <a:prstGeom prst="rect">
            <a:avLst/>
          </a:prstGeom>
          <a:solidFill>
            <a:srgbClr val="1F2E42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5532120" y="3273552"/>
            <a:ext cx="3063240" cy="566928"/>
          </a:xfrm>
          <a:prstGeom prst="rect">
            <a:avLst/>
          </a:prstGeom>
          <a:solidFill>
            <a:srgbClr val="0F1929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532120" y="3273552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669280" y="332841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Loss of productivity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7909560" y="332841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30%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5669280" y="3621024"/>
            <a:ext cx="83667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505956" y="3621024"/>
            <a:ext cx="1952244" cy="109728"/>
          </a:xfrm>
          <a:prstGeom prst="rect">
            <a:avLst/>
          </a:prstGeom>
          <a:solidFill>
            <a:srgbClr val="1F2E42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5532120" y="3986784"/>
            <a:ext cx="3063240" cy="566928"/>
          </a:xfrm>
          <a:prstGeom prst="rect">
            <a:avLst/>
          </a:prstGeom>
          <a:solidFill>
            <a:srgbClr val="0F1929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5532120" y="3986784"/>
            <a:ext cx="73152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669280" y="404164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Team morale impact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7909560" y="404164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10%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5669280" y="4334256"/>
            <a:ext cx="278892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948172" y="4334256"/>
            <a:ext cx="2510028" cy="109728"/>
          </a:xfrm>
          <a:prstGeom prst="rect">
            <a:avLst/>
          </a:prstGeom>
          <a:solidFill>
            <a:srgbClr val="1F2E42"/>
          </a:solidFill>
          <a:ln w="12700">
            <a:solidFill>
              <a:srgbClr val="1F2E42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532120" y="4690872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= ~150–200% mức lương 1 năm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Nguồn: Gallup State of Workplace 2023 · Deloitte Human Capital Trends 2022 · LinkedIn Learning Report 2023 · SHRM Turnover Analysis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828800" cy="29260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9488"/>
                </a:solidFill>
              </a:rPr>
              <a:t>CASE STUDY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EC8"/>
                </a:solidFill>
              </a:rPr>
              <a:t>Từ "stack ranking" độc hại đến "Growth Mindset" – chuyển hóa văn hóa dưới thời Satya Nadella (2014)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TRƯỚC 2014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0" y="16916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SAU 2014 (Nadella)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3886200" cy="2651760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2084832"/>
            <a:ext cx="3931920" cy="2651760"/>
          </a:xfrm>
          <a:prstGeom prst="rect">
            <a:avLst/>
          </a:prstGeom>
          <a:solidFill>
            <a:srgbClr val="0A1A16"/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12848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FFAAAA"/>
                </a:solidFill>
              </a:rPr>
              <a:t>Stack ranking – nhân viên cạnh tranh độc hại lẫn nhau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FFAAAA"/>
                </a:solidFill>
              </a:rPr>
              <a:t>Văn hóa "biết-hết" (know-it-all) – không ai dám nói sai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FFAAAA"/>
                </a:solidFill>
              </a:rPr>
              <a:t>Silo giữa các team – không chia sẻ kiến thức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FFAAAA"/>
                </a:solidFill>
              </a:rPr>
              <a:t>Turnover cao, nhân tài rời đi hàng loạt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0" y="2212848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AAFFDD"/>
                </a:solidFill>
              </a:rPr>
              <a:t>Growth Mindset (Carol Dweck) – học hỏi từ lỗi lầm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AAFFDD"/>
                </a:solidFill>
              </a:rPr>
              <a:t>Văn hóa "học hỏi tất cả" (learn-it-all) – khích lệ thử nghiệm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AAFFDD"/>
                </a:solidFill>
              </a:rPr>
              <a:t>Cross-team collaboration – Azure, Teams, GitHub hội nhập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AAFFDD"/>
                </a:solidFill>
              </a:rPr>
              <a:t>Thị giá từ $25B (2014) lên $3T (2024) – tăng 120 lần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7408" y="31089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PHẦN 05  ·  VĂN HÓA DN VÀ HIỆU QUẢ DỰ ÁN PHẦN MỀM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117"/>
                </a:solidFill>
              </a:rPr>
              <a:t>Văn hóa ảnh hưởng đến hiệu suất phát triển phần mềm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2697480" cy="822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435608"/>
            <a:ext cx="548640" cy="54864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0876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38988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D1117"/>
                </a:solidFill>
              </a:rPr>
              <a:t>Tăng khả năng hợp tác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0352" y="201168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Team có psychological safety tăng 26% sự sáng tạo &amp; 76% mức độ gắn kết (Google re:Work)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18688" y="129844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1298448"/>
            <a:ext cx="269748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01568" y="143560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0876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87368" y="138988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D1117"/>
                </a:solidFill>
              </a:rPr>
              <a:t>Phù hợp với Agile/Scrum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201168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Văn hóa minh bạch + tin tưởng = retrospective thật sự, backlog grooming hiệu quả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71616" y="1298448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71616" y="1298448"/>
            <a:ext cx="269748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54496" y="1435608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08760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0296" y="1389888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D1117"/>
                </a:solidFill>
              </a:rPr>
              <a:t>Tăng năng suất code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236208" y="2011680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Khảo sát DevEx (2024): Nhân viên hạnh phúc viết code bug-free cao hơn 40%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365760" y="2971800"/>
            <a:ext cx="841248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4360" y="306324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DORA Metrics &amp; Văn hóa: Nghiên cứu của Google DevOps Research (2023)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594360" y="3429000"/>
            <a:ext cx="1920240" cy="1143000"/>
          </a:xfrm>
          <a:prstGeom prst="rect">
            <a:avLst/>
          </a:prstGeom>
          <a:solidFill>
            <a:srgbClr val="0A1218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94360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Elite Teams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94360" y="3767328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Deploy 182x/năm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Recovery &lt; 1h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679192" y="3429000"/>
            <a:ext cx="1920240" cy="1143000"/>
          </a:xfrm>
          <a:prstGeom prst="rect">
            <a:avLst/>
          </a:prstGeom>
          <a:solidFill>
            <a:srgbClr val="0A1218"/>
          </a:solidFill>
          <a:ln w="12700">
            <a:solidFill>
              <a:srgbClr val="0EA5E9">
                <a:alpha val="45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679192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High Teams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2679192" y="3767328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Deploy 1x/ngày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Recovery &lt; 1 ngày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764024" y="3429000"/>
            <a:ext cx="1920240" cy="1143000"/>
          </a:xfrm>
          <a:prstGeom prst="rect">
            <a:avLst/>
          </a:prstGeom>
          <a:solidFill>
            <a:srgbClr val="0A1218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764024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Medium Teams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764024" y="3767328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Deploy 1x/tuần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Recovery &lt; 1 tuần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848856" y="3429000"/>
            <a:ext cx="1920240" cy="1143000"/>
          </a:xfrm>
          <a:prstGeom prst="rect">
            <a:avLst/>
          </a:prstGeom>
          <a:solidFill>
            <a:srgbClr val="0A1218"/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848856" y="34564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Low Teams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848856" y="3767328"/>
            <a:ext cx="19202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Deploy 1x/tháng</a:t>
            </a:r>
            <a:endParaRPr lang="en-US" sz="9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Recovery &gt; 6 tháng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Nguồn: Google re:Work · DORA State of DevOps 2023 · Forsgren et al., Accelerate (2018) · LinkedIn DevEx Report 2024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2318"/>
          </a:solidFill>
          <a:ln w="12700">
            <a:solidFill>
              <a:srgbClr val="0D2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645920" cy="274320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CASE STUDY 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30352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SPOTIFY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1887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0C8A0"/>
                </a:solidFill>
              </a:rPr>
              <a:t>Squad Model &amp; Autonomous Culture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4041648" cy="969264"/>
          </a:xfrm>
          <a:prstGeom prst="rect">
            <a:avLst/>
          </a:prstGeom>
          <a:solidFill>
            <a:srgbClr val="0A1A10"/>
          </a:solidFill>
          <a:ln w="12700">
            <a:solidFill>
              <a:srgbClr val="1A38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72768"/>
            <a:ext cx="64008" cy="9692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Squad 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0C8A0"/>
                </a:solidFill>
              </a:rPr>
              <a:t>Nhóm nhỏ tự trị (6–12 người): Product Owner + Dev + Designer + Data. Không họp dư thừa.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651760"/>
            <a:ext cx="4041648" cy="969264"/>
          </a:xfrm>
          <a:prstGeom prst="rect">
            <a:avLst/>
          </a:prstGeom>
          <a:solidFill>
            <a:srgbClr val="0A1A10"/>
          </a:solidFill>
          <a:ln w="12700">
            <a:solidFill>
              <a:srgbClr val="1A3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651760"/>
            <a:ext cx="64008" cy="9692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24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Tribe &amp; Chapter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3580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0C8A0"/>
                </a:solidFill>
              </a:rPr>
              <a:t>Tribe = nhiều squads cùng mục tiêu. Chapter = cộng đồng kỹ thuật ngang dọc toàn công 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730752"/>
            <a:ext cx="4041648" cy="969264"/>
          </a:xfrm>
          <a:prstGeom prst="rect">
            <a:avLst/>
          </a:prstGeom>
          <a:solidFill>
            <a:srgbClr val="0A1A10"/>
          </a:solidFill>
          <a:ln w="12700">
            <a:solidFill>
              <a:srgbClr val="1A38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730752"/>
            <a:ext cx="64008" cy="9692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Failure Friday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11480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0C8A0"/>
                </a:solidFill>
              </a:rPr>
              <a:t>Mỗi tuần 1 giờ chia sẻ bất kỳ sự cố – không bị chê trách. Xây dựng văn hóa học hỏi không sợ sai.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0"/>
            <a:ext cx="201168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164592"/>
            <a:ext cx="1645920" cy="274320"/>
          </a:xfrm>
          <a:prstGeom prst="rect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64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CASE STUDY 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56048" y="53035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NETFLIX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956048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9999"/>
                </a:solidFill>
              </a:rPr>
              <a:t>Freedom &amp; Responsibility – Culture of High Performance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56048" y="1572768"/>
            <a:ext cx="3840480" cy="969264"/>
          </a:xfrm>
          <a:prstGeom prst="rect">
            <a:avLst/>
          </a:prstGeom>
          <a:solidFill>
            <a:srgbClr val="1A0000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572768"/>
            <a:ext cx="64008" cy="9692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64592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Vacation Policy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1956816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99"/>
                </a:solidFill>
              </a:rPr>
              <a:t>Không có hạn chế ngày nghỉ – tự quyết định. Kèm theo: trách nhiệm cao và thực hiện kết quả thực sự.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56048" y="2651760"/>
            <a:ext cx="3840480" cy="969264"/>
          </a:xfrm>
          <a:prstGeom prst="rect">
            <a:avLst/>
          </a:prstGeom>
          <a:solidFill>
            <a:srgbClr val="1A0000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6048" y="2651760"/>
            <a:ext cx="64008" cy="9692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2724912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Keeper Test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035808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99"/>
                </a:solidFill>
              </a:rPr>
              <a:t>Manager tự hỏi: "Nếu người này xin nghỉ, mình có cố gắng giữ lại không?" Nếu không – phải hỏi chuyện ngay.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56048" y="3730752"/>
            <a:ext cx="3840480" cy="969264"/>
          </a:xfrm>
          <a:prstGeom prst="rect">
            <a:avLst/>
          </a:prstGeom>
          <a:solidFill>
            <a:srgbClr val="1A0000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56048" y="3730752"/>
            <a:ext cx="64008" cy="9692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38928" y="3803904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Radical Candor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4114800"/>
            <a:ext cx="35478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9999"/>
                </a:solidFill>
              </a:rPr>
              <a:t>Phản hồi thẳng thắn, trực tiếp, xây dựng – không vòng vo. Tạo môi trường an toàn để nói sự thật.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PHẦN 06  ·  CÁC YẾU TỐ VĂN HÓA QUAN TRỌNG TRONG CÔNG TY PHẦN MỀM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117"/>
                </a:solidFill>
              </a:rPr>
              <a:t>5 yếu tố văn hóa cốt lõi mà dev coi trọng nhất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7004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2670048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408176"/>
            <a:ext cx="475488" cy="47548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7218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353312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Giao tiếp minh bạch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1645920"/>
            <a:ext cx="1801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EA5E9"/>
                </a:solidFill>
              </a:rPr>
              <a:t>94% nhân viên ở lại vì transparency cao (HBR 2022)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2064" y="1920240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Chia sẻ roadmap, quyết định kỹ thuật, incident post-mortem công khai. Tránh hình thức "VP nói gì thì làm vậy".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82112" y="1261872"/>
            <a:ext cx="267004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82112" y="1261872"/>
            <a:ext cx="267004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28416" y="1408176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472184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13632" y="1353312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Khuyến khích sáng tạo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913632" y="1645920"/>
            <a:ext cx="1801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3x tỷ lệ đổi mới ở các công ty có culture sáng tạo (McKinsey)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328416" y="1920240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Hack days, 20% time, no-blame experiments. Dev cần không gian thử nghiệm và học hỏi từ thất bại.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98464" y="1261872"/>
            <a:ext cx="267004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98464" y="1261872"/>
            <a:ext cx="2670048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44768" y="1408176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472184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29984" y="1353312"/>
            <a:ext cx="1801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Work-Life Balance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729984" y="1645920"/>
            <a:ext cx="1801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</a:rPr>
              <a:t>Burnout giảm 50% khi WLB tốt (Deloitte 2023)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144768" y="1920240"/>
            <a:ext cx="24140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Async-first, flexible hours, no crunch culture. Developer hiệu quả nhất khi được nghỉ ngơi đủ giấc.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65760" y="2743200"/>
            <a:ext cx="41330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65760" y="2743200"/>
            <a:ext cx="413308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12064" y="2889504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953512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97280" y="2834640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Học tập &amp; Phát triển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097280" y="3127248"/>
            <a:ext cx="3264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</a:rPr>
              <a:t>94% ở lại nếu được học hỏi và tiến bộ (Gallup)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512064" y="3401568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Learning budget, internal mobility, mentorship. Career path rõ ràng là yếu tố #1 giữ chân (LinkedIn 2023).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182112" y="2743200"/>
            <a:ext cx="4133088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182112" y="2743200"/>
            <a:ext cx="4133088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3328416" y="2889504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2953512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913632" y="2834640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Tâm lý an toàn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913632" y="3127248"/>
            <a:ext cx="32644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0B981"/>
                </a:solidFill>
              </a:rPr>
              <a:t>Team có psych. safety sáng tạo hơn 76% (re:Work)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3328416" y="3401568"/>
            <a:ext cx="3877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Dare to speak up, blameless post-mortem, không sợ bị phán xét. Nền tảng của mọi team high performance.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Nguồn: HBR – "The Culture Factor" 2022 · McKinsey Organizational Health Index · Gallup 2023 · Google re:Work · LinkedIn Workplace Learning 2023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F2C59"/>
          </a:solidFill>
          <a:ln w="12700">
            <a:solidFill>
              <a:srgbClr val="0F2C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PHẦN 07  ·  ĐỀ XUẤT CHIẾN LƯỢC CHO CÔNG TY PHẦN MỀM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117"/>
                </a:solidFill>
              </a:rPr>
              <a:t>4 nhóm chiến lược xây dựng văn hóa doanh nghiệp hiệu quả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548640" cy="15361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98448"/>
            <a:ext cx="5486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138988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Chẩn đoán &amp; Thiết kế Văn hóa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17373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Khảo sát eNPS hàng quý để đo cảm nhận nhân viên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Xác định gap giữa văn hóa hiện tại &amp; văn hóa mong muốn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Định nghĩa giá trị cốt lõi có sự tham gia của kỹ sư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36592" y="1298448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298448"/>
            <a:ext cx="548640" cy="15361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298448"/>
            <a:ext cx="5486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138988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Xây dựng Employer Branding kỹ thuật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7373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Duy trì tech blog, GitHub public org, DevTalks nội bộ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Chia sẻ Glassdoor review thực và chính sách công khai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Tham gia sự kiện cộng đồng: hackathon, open-source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99232"/>
            <a:ext cx="548640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99232"/>
            <a:ext cx="5486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4128" y="309067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Chính sách Phát triển Nhân sự rõ ràng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24128" y="343814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Dual-track career ladder: IC và Management track ngang bằng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Learning budget hàng năm: min $1,000/người/năm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Mentorship chính thức &amp; internal mobility sau 12–18 tháng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36592" y="2999232"/>
            <a:ext cx="41605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2999232"/>
            <a:ext cx="548640" cy="15361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999232"/>
            <a:ext cx="5486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309067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Văn hóa Agile &amp; Tâm lý An toàn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438144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Blameless post-mortem sau mỗi incident sản xuất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Retrospective thật sự – không phải buổi 'chúc mừng nhau'</a:t>
            </a:r>
            <a:endParaRPr lang="en-US" sz="9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Đo DORA metrics hàng quý, công khai kết quả với toàn team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Tham khảo: SHRM Culture Building Framework · Deloitte Human Capital Trends 2024 · Google re:Work Toolkit · Netflix Culture Deck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365760"/>
            <a:ext cx="5486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0EA5E9">
                    <a:alpha val="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20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"/>
            <a:ext cx="1645920" cy="292608"/>
          </a:xfrm>
          <a:prstGeom prst="rect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</a:rPr>
              <a:t>KẾT LUẬN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6400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Văn hóa Doanh nghiệp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= Nền tảng của mọi Dự án Phần mềm Thành công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47088"/>
            <a:ext cx="2651760" cy="822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9339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197510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Văn hóa là "hạ tầng vô hình"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1792" y="2487168"/>
            <a:ext cx="237744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0B4CC"/>
                </a:solidFill>
              </a:rPr>
              <a:t>Quyết định ai đến, ai ở lại – và ai cho hết mình với dự án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0" y="1847088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847088"/>
            <a:ext cx="2651760" cy="82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993392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0208" y="197510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Không có silver bullet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456432" y="2487168"/>
            <a:ext cx="237744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0B4CC"/>
                </a:solidFill>
              </a:rPr>
              <a:t>Google, Microsoft, Spotify mỗi nơi có cách riêng – quan trọng là nhất quán &amp; thực sự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26480" y="1847088"/>
            <a:ext cx="265176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D5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26480" y="1847088"/>
            <a:ext cx="265176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9339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84848" y="197510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Đo lường &amp; Cải tiến liên tục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291072" y="2487168"/>
            <a:ext cx="237744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A0B4CC"/>
                </a:solidFill>
              </a:rPr>
              <a:t>eNPS, DORA metrics, retention rate – văn hóa phải đo lường được để cải thiện được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7200" y="4069080"/>
            <a:ext cx="8275320" cy="777240"/>
          </a:xfrm>
          <a:prstGeom prst="rect">
            <a:avLst/>
          </a:prstGeom>
          <a:solidFill>
            <a:srgbClr val="0F2C59"/>
          </a:solidFill>
          <a:ln w="12700">
            <a:solidFill>
              <a:srgbClr val="0EA5E9">
                <a:alpha val="4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" y="406908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080" y="4069080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A0C0E0"/>
                </a:solidFill>
              </a:rPr>
              <a:t>"Hire for culture fit, train for skills – because skills can be taught, but values cannot."  — Tony Hsieh, Zappos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94360"/>
          </a:xfrm>
          <a:prstGeom prst="rect">
            <a:avLst/>
          </a:prstGeom>
          <a:solidFill>
            <a:srgbClr val="0F2C59"/>
          </a:solidFill>
          <a:ln w="12700">
            <a:solidFill>
              <a:srgbClr val="0F2C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64748B"/>
                </a:solidFill>
              </a:rPr>
              <a:t>TÀI LIỆU THAM KHẢO  ·  REFERENCES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117"/>
                </a:solidFill>
              </a:rPr>
              <a:t>Tài liệu tham khảo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77724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Sách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98448" y="1261872"/>
            <a:ext cx="7406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Schein, E.H. (1985). Organizational Culture and Leadership. Jossey-Bass.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Forsgren, N., Humble, J., &amp; Kim, G. (2018). Accelerate. IT Revolution Press.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Edmondson, A. (2018). The Fearless Organization. Wiley.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523744"/>
            <a:ext cx="777240" cy="3108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2374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Báo cáo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98448" y="2523744"/>
            <a:ext cx="7406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Gallup (2023). State of the Global Workplace 2023 Report.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Deloitte (2023). Global Human Capital Trends 2023.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McKinsey &amp; Company (2022). The State of Organizations Report.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785616"/>
            <a:ext cx="77724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8561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Nghiên cứu &amp; Công 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98448" y="3785616"/>
            <a:ext cx="7406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Google re:Work (2016). Project Aristotle – Understand team effectiveness.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Netflix (2023). Netflix Culture Deck – Freedom &amp; Responsibility.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LinkedIn (2023). Workplace Learning &amp; Talent Trends Report.</a:t>
            </a:r>
            <a:endParaRPr lang="en-US" sz="9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50" dirty="0">
                <a:solidFill>
                  <a:srgbClr val="0D1117"/>
                </a:solidFill>
              </a:rPr>
              <a:t>Stack Overflow (2024). Annual Developer Survey.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Bài thuyết trình sử dụng số liệu từ các tổ chức nghiên cứu uy tín: Gallup · Deloitte · McKinsey · Google · LinkedIn · HBR · Stack Overflow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Văn hóa Doanh nghiệp &amp; Nhan su IT</dc:title>
  <dc:subject>PptxGenJS Presentation</dc:subject>
  <dc:creator>Sinh vien CNTT</dc:creator>
  <cp:lastModifiedBy>Sinh vien CNTT</cp:lastModifiedBy>
  <cp:revision>1</cp:revision>
  <dcterms:created xsi:type="dcterms:W3CDTF">2026-03-15T12:22:51Z</dcterms:created>
  <dcterms:modified xsi:type="dcterms:W3CDTF">2026-03-15T12:22:51Z</dcterms:modified>
</cp:coreProperties>
</file>